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3" r:id="rId13"/>
    <p:sldId id="272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699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E808-BD41-D58D-393D-D995E9370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92C19-F751-1A74-1100-BF387EB31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66705-FF5C-52F2-975F-2D987794D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F58F2-91AC-318E-F89A-493589A1DE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49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320040" y="868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BÁO CÁO GIỮA KỲ – KIỂM THỬ PHẦN MỀM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39" y="1325880"/>
            <a:ext cx="954492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20040" y="310896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9510" y="3360420"/>
            <a:ext cx="85039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</a:rPr>
              <a:t>Sinh viên: Nguyễn Văn </a:t>
            </a:r>
            <a:r>
              <a:rPr lang="en-US" dirty="0" err="1">
                <a:solidFill>
                  <a:schemeClr val="bg1"/>
                </a:solidFill>
              </a:rPr>
              <a:t>Toàn</a:t>
            </a:r>
            <a:r>
              <a:rPr lang="en-US" dirty="0">
                <a:solidFill>
                  <a:schemeClr val="bg1"/>
                </a:solidFill>
              </a:rPr>
              <a:t>  </a:t>
            </a:r>
          </a:p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</a:rPr>
              <a:t>GV hướng dẫn: ThS. Phạm Trọng Huynh   </a:t>
            </a:r>
          </a:p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</a:rPr>
              <a:t>ĐH Tài Nguyên &amp; Môi Trường TP.HCM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LỤC NỘI DUNG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MỤC LỤC NỘI DUNG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0058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" y="106070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Tổng quan dự án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" y="143560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Giới thiệu, mục tiêu, công nghệ, tiến độ</a:t>
            </a:r>
          </a:p>
        </p:txBody>
      </p:sp>
      <p:sp>
        <p:nvSpPr>
          <p:cNvPr id="14" name="Text 12"/>
          <p:cNvSpPr/>
          <p:nvPr/>
        </p:nvSpPr>
        <p:spPr>
          <a:xfrm>
            <a:off x="3749040" y="10607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0058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85232" y="106070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Phân tích yêu cầu &amp; Phạm vi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85232" y="143560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Feature list, In/Out-scope, Ma trận liên kết</a:t>
            </a:r>
          </a:p>
        </p:txBody>
      </p:sp>
      <p:sp>
        <p:nvSpPr>
          <p:cNvPr id="20" name="Text 18"/>
          <p:cNvSpPr/>
          <p:nvPr/>
        </p:nvSpPr>
        <p:spPr>
          <a:xfrm>
            <a:off x="8183880" y="10607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9659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19659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" y="202082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Kế hoạch kiểm thử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" y="239572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Chiến lược, môi trường, rủi ro, lịch trình</a:t>
            </a:r>
          </a:p>
        </p:txBody>
      </p:sp>
      <p:sp>
        <p:nvSpPr>
          <p:cNvPr id="26" name="Text 24"/>
          <p:cNvSpPr/>
          <p:nvPr/>
        </p:nvSpPr>
        <p:spPr>
          <a:xfrm>
            <a:off x="3749040" y="20208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19659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19659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85232" y="202082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Thiết kế ca kiểm thử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85232" y="239572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Black-box (EP, BVA, Decision Table), Test Case</a:t>
            </a:r>
          </a:p>
        </p:txBody>
      </p:sp>
      <p:sp>
        <p:nvSpPr>
          <p:cNvPr id="32" name="Text 30"/>
          <p:cNvSpPr/>
          <p:nvPr/>
        </p:nvSpPr>
        <p:spPr>
          <a:xfrm>
            <a:off x="8183880" y="20208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9260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" y="29260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05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0392" y="298094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Thực thi kiểm thử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0392" y="335584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Functional, Integration, System, Thống kê kết quả</a:t>
            </a:r>
          </a:p>
        </p:txBody>
      </p:sp>
      <p:sp>
        <p:nvSpPr>
          <p:cNvPr id="38" name="Text 36"/>
          <p:cNvSpPr/>
          <p:nvPr/>
        </p:nvSpPr>
        <p:spPr>
          <a:xfrm>
            <a:off x="3749040" y="298094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29260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09160" y="29260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06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85232" y="298094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Kiểm thử tự động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85232" y="335584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Công cụ, script, kết quả automation</a:t>
            </a:r>
          </a:p>
        </p:txBody>
      </p:sp>
      <p:sp>
        <p:nvSpPr>
          <p:cNvPr id="44" name="Text 42"/>
          <p:cNvSpPr/>
          <p:nvPr/>
        </p:nvSpPr>
        <p:spPr>
          <a:xfrm>
            <a:off x="8183880" y="298094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8862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74320" y="38862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07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0392" y="394106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Báo cáo lỗi (Bug Report)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50392" y="431596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Danh sách, phân loại, biểu đồ lỗi</a:t>
            </a:r>
          </a:p>
        </p:txBody>
      </p:sp>
      <p:sp>
        <p:nvSpPr>
          <p:cNvPr id="50" name="Text 48"/>
          <p:cNvSpPr/>
          <p:nvPr/>
        </p:nvSpPr>
        <p:spPr>
          <a:xfrm>
            <a:off x="3749040" y="39410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9160" y="3904488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709160" y="38862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08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285232" y="394106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Kết luận &amp; Kiến nghị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285232" y="431596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Phát hiện chính, đề xuất cải thiện</a:t>
            </a:r>
          </a:p>
        </p:txBody>
      </p:sp>
      <p:sp>
        <p:nvSpPr>
          <p:cNvPr id="56" name="Text 54"/>
          <p:cNvSpPr/>
          <p:nvPr/>
        </p:nvSpPr>
        <p:spPr>
          <a:xfrm>
            <a:off x="8183880" y="39410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– TỔNG QUAN DỰ ÁN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115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/>
              <a:t>ỨNG DỤNG KIỂM THỬ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8912" y="13441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hcmunre.edu.vn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8912" y="17282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Website ĐH Tài Nguyên &amp; Môi Trường TP.HCM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02412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73752" y="1115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/>
              <a:t>MỤC TIÊU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73752" y="13441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E293B"/>
                </a:solidFill>
              </a:rPr>
              <a:t>Mục</a:t>
            </a:r>
            <a:r>
              <a:rPr lang="en-US" b="1" dirty="0">
                <a:solidFill>
                  <a:srgbClr val="1E293B"/>
                </a:solidFill>
              </a:rPr>
              <a:t> </a:t>
            </a:r>
            <a:r>
              <a:rPr lang="en-US" b="1" dirty="0" err="1">
                <a:solidFill>
                  <a:srgbClr val="1E293B"/>
                </a:solidFill>
              </a:rPr>
              <a:t>tiêu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73752" y="17282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</a:rPr>
              <a:t>Phát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hiện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lỗi</a:t>
            </a:r>
            <a:r>
              <a:rPr lang="en-US" sz="1200" dirty="0">
                <a:solidFill>
                  <a:srgbClr val="64748B"/>
                </a:solidFill>
              </a:rPr>
              <a:t> Responsive, </a:t>
            </a:r>
            <a:r>
              <a:rPr lang="en-US" sz="1200" dirty="0" err="1">
                <a:solidFill>
                  <a:srgbClr val="64748B"/>
                </a:solidFill>
              </a:rPr>
              <a:t>đảm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r>
              <a:rPr lang="en-US" sz="1200" dirty="0" err="1">
                <a:solidFill>
                  <a:srgbClr val="64748B"/>
                </a:solidFill>
              </a:rPr>
              <a:t>bảo</a:t>
            </a:r>
            <a:r>
              <a:rPr lang="en-US" sz="1200" dirty="0">
                <a:solidFill>
                  <a:srgbClr val="64748B"/>
                </a:solidFill>
              </a:rPr>
              <a:t> UX, button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44144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" y="2532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/>
              <a:t>NỀN TẢNG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8912" y="27614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Web Responsive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8912" y="31455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HTML/CSS, CMS WordPress, kiểm thử mobile &amp; tablet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44144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73752" y="2532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/>
              <a:t>ĐỐI TƯỢNG NGƯỜI DÙNG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73752" y="27614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Sinh viên &amp; GV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73752" y="31455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SV tra cứu điểm, GV quản lý, khách truy cập thông tin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2880" y="59436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– DANH SÁCH CHỨC NĂNG &amp; PHẠM VI KIỂM THỬ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2.1 FEATURE LIST  |  2.2 SCOPE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</a:rPr>
              <a:t>DANH SÁCH CHỨC NĂNG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41148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19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F01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04672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Menu Hamburger (mobile nav)</a:t>
            </a:r>
          </a:p>
        </p:txBody>
      </p:sp>
      <p:sp>
        <p:nvSpPr>
          <p:cNvPr id="14" name="Text 12"/>
          <p:cNvSpPr/>
          <p:nvPr/>
        </p:nvSpPr>
        <p:spPr>
          <a:xfrm>
            <a:off x="3337560" y="17099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Header</a:t>
            </a:r>
          </a:p>
        </p:txBody>
      </p:sp>
      <p:sp>
        <p:nvSpPr>
          <p:cNvPr id="15" name="Shape 13"/>
          <p:cNvSpPr/>
          <p:nvPr/>
        </p:nvSpPr>
        <p:spPr>
          <a:xfrm>
            <a:off x="274320" y="1965960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02082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F02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4672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Banner &amp; Carousel trang chủ</a:t>
            </a:r>
          </a:p>
        </p:txBody>
      </p:sp>
      <p:sp>
        <p:nvSpPr>
          <p:cNvPr id="20" name="Text 18"/>
          <p:cNvSpPr/>
          <p:nvPr/>
        </p:nvSpPr>
        <p:spPr>
          <a:xfrm>
            <a:off x="3337560" y="20116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Homepage</a:t>
            </a:r>
          </a:p>
        </p:txBody>
      </p:sp>
      <p:sp>
        <p:nvSpPr>
          <p:cNvPr id="21" name="Shape 19"/>
          <p:cNvSpPr/>
          <p:nvPr/>
        </p:nvSpPr>
        <p:spPr>
          <a:xfrm>
            <a:off x="274320" y="2267712"/>
            <a:ext cx="41148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3225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F03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Trang Tin tức &amp; Bài viết</a:t>
            </a:r>
          </a:p>
        </p:txBody>
      </p:sp>
      <p:sp>
        <p:nvSpPr>
          <p:cNvPr id="26" name="Text 24"/>
          <p:cNvSpPr/>
          <p:nvPr/>
        </p:nvSpPr>
        <p:spPr>
          <a:xfrm>
            <a:off x="3337560" y="2313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News</a:t>
            </a:r>
          </a:p>
        </p:txBody>
      </p:sp>
      <p:sp>
        <p:nvSpPr>
          <p:cNvPr id="27" name="Shape 25"/>
          <p:cNvSpPr/>
          <p:nvPr/>
        </p:nvSpPr>
        <p:spPr>
          <a:xfrm>
            <a:off x="274320" y="2569464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6243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F04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4672" y="25694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Form Đăng nhập Sinh viên</a:t>
            </a:r>
          </a:p>
        </p:txBody>
      </p:sp>
      <p:sp>
        <p:nvSpPr>
          <p:cNvPr id="32" name="Text 30"/>
          <p:cNvSpPr/>
          <p:nvPr/>
        </p:nvSpPr>
        <p:spPr>
          <a:xfrm>
            <a:off x="3337560" y="2615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Auth</a:t>
            </a:r>
          </a:p>
        </p:txBody>
      </p:sp>
      <p:sp>
        <p:nvSpPr>
          <p:cNvPr id="33" name="Shape 31"/>
          <p:cNvSpPr/>
          <p:nvPr/>
        </p:nvSpPr>
        <p:spPr>
          <a:xfrm>
            <a:off x="274320" y="2871216"/>
            <a:ext cx="41148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9260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F05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4672" y="28712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Form Tra cứu Bảng điểm</a:t>
            </a:r>
          </a:p>
        </p:txBody>
      </p:sp>
      <p:sp>
        <p:nvSpPr>
          <p:cNvPr id="38" name="Text 36"/>
          <p:cNvSpPr/>
          <p:nvPr/>
        </p:nvSpPr>
        <p:spPr>
          <a:xfrm>
            <a:off x="3337560" y="29169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Academic</a:t>
            </a:r>
          </a:p>
        </p:txBody>
      </p:sp>
      <p:sp>
        <p:nvSpPr>
          <p:cNvPr id="39" name="Shape 37"/>
          <p:cNvSpPr/>
          <p:nvPr/>
        </p:nvSpPr>
        <p:spPr>
          <a:xfrm>
            <a:off x="274320" y="3172968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227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F06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4672" y="3172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Trang Giới thiệu trường</a:t>
            </a:r>
          </a:p>
        </p:txBody>
      </p:sp>
      <p:sp>
        <p:nvSpPr>
          <p:cNvPr id="44" name="Text 42"/>
          <p:cNvSpPr/>
          <p:nvPr/>
        </p:nvSpPr>
        <p:spPr>
          <a:xfrm>
            <a:off x="3337560" y="32186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About</a:t>
            </a:r>
          </a:p>
        </p:txBody>
      </p:sp>
      <p:sp>
        <p:nvSpPr>
          <p:cNvPr id="45" name="Shape 43"/>
          <p:cNvSpPr/>
          <p:nvPr/>
        </p:nvSpPr>
        <p:spPr>
          <a:xfrm>
            <a:off x="274320" y="3474720"/>
            <a:ext cx="41148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529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F07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04672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Chức năng Tìm kiếm</a:t>
            </a:r>
          </a:p>
        </p:txBody>
      </p:sp>
      <p:sp>
        <p:nvSpPr>
          <p:cNvPr id="50" name="Text 48"/>
          <p:cNvSpPr/>
          <p:nvPr/>
        </p:nvSpPr>
        <p:spPr>
          <a:xfrm>
            <a:off x="3337560" y="35204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Search</a:t>
            </a:r>
          </a:p>
        </p:txBody>
      </p:sp>
      <p:sp>
        <p:nvSpPr>
          <p:cNvPr id="51" name="Shape 49"/>
          <p:cNvSpPr/>
          <p:nvPr/>
        </p:nvSpPr>
        <p:spPr>
          <a:xfrm>
            <a:off x="274320" y="3776472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8313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F08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04672" y="3776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Form Đăng nhập Giáo viên</a:t>
            </a:r>
          </a:p>
        </p:txBody>
      </p:sp>
      <p:sp>
        <p:nvSpPr>
          <p:cNvPr id="56" name="Text 54"/>
          <p:cNvSpPr/>
          <p:nvPr/>
        </p:nvSpPr>
        <p:spPr>
          <a:xfrm>
            <a:off x="3337560" y="3822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Auth</a:t>
            </a:r>
          </a:p>
        </p:txBody>
      </p:sp>
      <p:sp>
        <p:nvSpPr>
          <p:cNvPr id="57" name="Shape 55"/>
          <p:cNvSpPr/>
          <p:nvPr/>
        </p:nvSpPr>
        <p:spPr>
          <a:xfrm>
            <a:off x="274320" y="4078224"/>
            <a:ext cx="41148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1330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F09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04672" y="4078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Icon Gọi điện / Zalo</a:t>
            </a:r>
          </a:p>
        </p:txBody>
      </p:sp>
      <p:sp>
        <p:nvSpPr>
          <p:cNvPr id="62" name="Text 60"/>
          <p:cNvSpPr/>
          <p:nvPr/>
        </p:nvSpPr>
        <p:spPr>
          <a:xfrm>
            <a:off x="3337560" y="41239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Contact</a:t>
            </a:r>
          </a:p>
        </p:txBody>
      </p:sp>
      <p:sp>
        <p:nvSpPr>
          <p:cNvPr id="63" name="Shape 61"/>
          <p:cNvSpPr/>
          <p:nvPr/>
        </p:nvSpPr>
        <p:spPr>
          <a:xfrm>
            <a:off x="274320" y="4379976"/>
            <a:ext cx="4114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4672" y="43799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In PDF Bảng điểm</a:t>
            </a:r>
          </a:p>
        </p:txBody>
      </p:sp>
      <p:sp>
        <p:nvSpPr>
          <p:cNvPr id="68" name="Text 66"/>
          <p:cNvSpPr/>
          <p:nvPr/>
        </p:nvSpPr>
        <p:spPr>
          <a:xfrm>
            <a:off x="3337560" y="44256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Academic</a:t>
            </a:r>
          </a:p>
        </p:txBody>
      </p:sp>
      <p:sp>
        <p:nvSpPr>
          <p:cNvPr id="69" name="Text 67"/>
          <p:cNvSpPr/>
          <p:nvPr/>
        </p:nvSpPr>
        <p:spPr>
          <a:xfrm>
            <a:off x="466344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</a:rPr>
              <a:t>PHẠM VI KIỂM THỬ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0" name="Shape 68"/>
          <p:cNvSpPr/>
          <p:nvPr/>
        </p:nvSpPr>
        <p:spPr>
          <a:xfrm>
            <a:off x="4663440" y="1664208"/>
            <a:ext cx="193852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63440" y="166420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IN-SCOPE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919472" y="2011680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Menu Hamburger &amp; điều hướng</a:t>
            </a:r>
          </a:p>
        </p:txBody>
      </p:sp>
      <p:sp>
        <p:nvSpPr>
          <p:cNvPr id="76" name="Text 74"/>
          <p:cNvSpPr/>
          <p:nvPr/>
        </p:nvSpPr>
        <p:spPr>
          <a:xfrm>
            <a:off x="4919472" y="2276856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Tràn nội dung ngang</a:t>
            </a:r>
          </a:p>
        </p:txBody>
      </p:sp>
      <p:sp>
        <p:nvSpPr>
          <p:cNvPr id="78" name="Text 76"/>
          <p:cNvSpPr/>
          <p:nvPr/>
        </p:nvSpPr>
        <p:spPr>
          <a:xfrm>
            <a:off x="4919472" y="2542032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Banner, chữ &amp; hình ảnh</a:t>
            </a:r>
          </a:p>
        </p:txBody>
      </p:sp>
      <p:sp>
        <p:nvSpPr>
          <p:cNvPr id="80" name="Text 78"/>
          <p:cNvSpPr/>
          <p:nvPr/>
        </p:nvSpPr>
        <p:spPr>
          <a:xfrm>
            <a:off x="4919472" y="2807208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Button &amp; link bấm được</a:t>
            </a:r>
          </a:p>
        </p:txBody>
      </p:sp>
      <p:sp>
        <p:nvSpPr>
          <p:cNvPr id="82" name="Text 80"/>
          <p:cNvSpPr/>
          <p:nvPr/>
        </p:nvSpPr>
        <p:spPr>
          <a:xfrm>
            <a:off x="4919472" y="3072384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Form đăng nhập SV &amp; GV</a:t>
            </a:r>
          </a:p>
        </p:txBody>
      </p:sp>
      <p:sp>
        <p:nvSpPr>
          <p:cNvPr id="84" name="Text 82"/>
          <p:cNvSpPr/>
          <p:nvPr/>
        </p:nvSpPr>
        <p:spPr>
          <a:xfrm>
            <a:off x="4919472" y="3337560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Form tra cứu bảng điểm</a:t>
            </a:r>
          </a:p>
        </p:txBody>
      </p:sp>
      <p:sp>
        <p:nvSpPr>
          <p:cNvPr id="86" name="Text 84"/>
          <p:cNvSpPr/>
          <p:nvPr/>
        </p:nvSpPr>
        <p:spPr>
          <a:xfrm>
            <a:off x="4919472" y="3602736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Trang giới thiệu trường</a:t>
            </a:r>
          </a:p>
        </p:txBody>
      </p:sp>
      <p:sp>
        <p:nvSpPr>
          <p:cNvPr id="88" name="Text 86"/>
          <p:cNvSpPr/>
          <p:nvPr/>
        </p:nvSpPr>
        <p:spPr>
          <a:xfrm>
            <a:off x="4919472" y="3867912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Chức năng tìm kiếm</a:t>
            </a:r>
          </a:p>
        </p:txBody>
      </p:sp>
      <p:sp>
        <p:nvSpPr>
          <p:cNvPr id="90" name="Text 88"/>
          <p:cNvSpPr/>
          <p:nvPr/>
        </p:nvSpPr>
        <p:spPr>
          <a:xfrm>
            <a:off x="4919472" y="4133088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Icon Gọi điện / Zalo</a:t>
            </a:r>
          </a:p>
        </p:txBody>
      </p:sp>
      <p:sp>
        <p:nvSpPr>
          <p:cNvPr id="92" name="Text 90"/>
          <p:cNvSpPr/>
          <p:nvPr/>
        </p:nvSpPr>
        <p:spPr>
          <a:xfrm>
            <a:off x="4919472" y="4398264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In PDF bảng điểm</a:t>
            </a:r>
          </a:p>
        </p:txBody>
      </p:sp>
      <p:sp>
        <p:nvSpPr>
          <p:cNvPr id="93" name="Shape 91"/>
          <p:cNvSpPr/>
          <p:nvPr/>
        </p:nvSpPr>
        <p:spPr>
          <a:xfrm>
            <a:off x="6748272" y="1664208"/>
            <a:ext cx="202996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748272" y="1664208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OUT-OF-SCOPE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7004304" y="20116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Kiểm thử trình duyệt desktop</a:t>
            </a:r>
          </a:p>
        </p:txBody>
      </p:sp>
      <p:sp>
        <p:nvSpPr>
          <p:cNvPr id="99" name="Text 97"/>
          <p:cNvSpPr/>
          <p:nvPr/>
        </p:nvSpPr>
        <p:spPr>
          <a:xfrm>
            <a:off x="7004304" y="241401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Backend &amp; API server</a:t>
            </a:r>
          </a:p>
        </p:txBody>
      </p:sp>
      <p:sp>
        <p:nvSpPr>
          <p:cNvPr id="101" name="Text 99"/>
          <p:cNvSpPr/>
          <p:nvPr/>
        </p:nvSpPr>
        <p:spPr>
          <a:xfrm>
            <a:off x="7004304" y="281635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Bảo mật sâu (Pentest)</a:t>
            </a:r>
          </a:p>
        </p:txBody>
      </p:sp>
      <p:sp>
        <p:nvSpPr>
          <p:cNvPr id="103" name="Text 101"/>
          <p:cNvSpPr/>
          <p:nvPr/>
        </p:nvSpPr>
        <p:spPr>
          <a:xfrm>
            <a:off x="7004304" y="32186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Hiệu năng load trang chi tiết</a:t>
            </a:r>
          </a:p>
        </p:txBody>
      </p:sp>
      <p:sp>
        <p:nvSpPr>
          <p:cNvPr id="105" name="Text 103"/>
          <p:cNvSpPr/>
          <p:nvPr/>
        </p:nvSpPr>
        <p:spPr>
          <a:xfrm>
            <a:off x="7004304" y="3621024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Automation CI/CD</a:t>
            </a:r>
          </a:p>
        </p:txBody>
      </p:sp>
      <p:sp>
        <p:nvSpPr>
          <p:cNvPr id="107" name="Text 105"/>
          <p:cNvSpPr/>
          <p:nvPr/>
        </p:nvSpPr>
        <p:spPr>
          <a:xfrm>
            <a:off x="7004304" y="402336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Push notification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2316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– KẾ HOẠCH KIỂM THỬ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" y="7979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3.1 MỤC TIÊU  |  3.2 CHIẾN LƯỢC  |  3.3 MÔI TRƯỜNG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</a:rPr>
              <a:t>MỤC TIÊU KIỂM THỬ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41148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Đạt 100% feature coverage cho 10 chức năng in-scope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4114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Phát hiện toàn bộ lỗi Critical &amp; Major trước release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409444"/>
            <a:ext cx="41148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Áp dụng ≥3 kỹ thuật kiểm thử hộp đen trong thiết kế TC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1298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</a:rPr>
              <a:t>MÔI TRƯỜNG KIỂM THỬ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663440" y="1627632"/>
            <a:ext cx="41148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17007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/>
              <a:t>Thiết bị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50992" y="162763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iPhone 8, iPhone 14 Pro Max, Samsung S24 Ultra, iPad</a:t>
            </a:r>
          </a:p>
        </p:txBody>
      </p:sp>
      <p:sp>
        <p:nvSpPr>
          <p:cNvPr id="43" name="Shape 41"/>
          <p:cNvSpPr/>
          <p:nvPr/>
        </p:nvSpPr>
        <p:spPr>
          <a:xfrm>
            <a:off x="4663440" y="2130552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2037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/>
              <a:t>Trình duyệt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50992" y="213055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Safari (iOS), Chrome (Android), Chrome DevTools</a:t>
            </a:r>
          </a:p>
        </p:txBody>
      </p:sp>
      <p:sp>
        <p:nvSpPr>
          <p:cNvPr id="47" name="Shape 45"/>
          <p:cNvSpPr/>
          <p:nvPr/>
        </p:nvSpPr>
        <p:spPr>
          <a:xfrm>
            <a:off x="4663440" y="2633472"/>
            <a:ext cx="41148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27066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/>
              <a:t>Hệ điều hành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50992" y="263347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macOS Ventura</a:t>
            </a:r>
          </a:p>
        </p:txBody>
      </p:sp>
      <p:sp>
        <p:nvSpPr>
          <p:cNvPr id="51" name="Shape 49"/>
          <p:cNvSpPr/>
          <p:nvPr/>
        </p:nvSpPr>
        <p:spPr>
          <a:xfrm>
            <a:off x="4663440" y="3136392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2095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/>
              <a:t>Viewport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650992" y="31363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375×667 | 430×932 | 412×915 | 768×1024</a:t>
            </a:r>
          </a:p>
        </p:txBody>
      </p:sp>
      <p:sp>
        <p:nvSpPr>
          <p:cNvPr id="55" name="Shape 53"/>
          <p:cNvSpPr/>
          <p:nvPr/>
        </p:nvSpPr>
        <p:spPr>
          <a:xfrm>
            <a:off x="4663440" y="3639312"/>
            <a:ext cx="41148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3712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/>
              <a:t>Kết nối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650992" y="363931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/>
              <a:t>WiFi</a:t>
            </a:r>
            <a:r>
              <a:rPr lang="en-US" sz="900" dirty="0"/>
              <a:t> 4G, offline (Airplane mode)</a:t>
            </a:r>
          </a:p>
        </p:txBody>
      </p:sp>
      <p:sp>
        <p:nvSpPr>
          <p:cNvPr id="59" name="Shape 57"/>
          <p:cNvSpPr/>
          <p:nvPr/>
        </p:nvSpPr>
        <p:spPr>
          <a:xfrm>
            <a:off x="4663440" y="4142232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63440" y="42153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/>
              <a:t>Công cụ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650992" y="414223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Chrome DevTools Device Mode, Selenium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 – TIÊU CHÍ &amp; RỦI RO KIỂM THỬ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</a:rPr>
              <a:t>TIÊU CHÍ BẮT ĐẦU (ENTRY)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4023360" cy="292608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673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Website đã deploy &amp; truy cập được bằng URL công khai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975104"/>
            <a:ext cx="40233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19751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Thiết bị kiểm thử đã sẵn sàng &amp; cài trình duyệt cần thiết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322576"/>
            <a:ext cx="4023360" cy="292608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368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23225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Môi trường test đã ổn định, không thay đổi code trong sprint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670048"/>
            <a:ext cx="40233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2715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26700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1E293B"/>
                </a:solidFill>
              </a:rPr>
              <a:t>Dữ</a:t>
            </a:r>
            <a:r>
              <a:rPr lang="en-US" sz="900" dirty="0">
                <a:solidFill>
                  <a:srgbClr val="1E293B"/>
                </a:solidFill>
              </a:rPr>
              <a:t> </a:t>
            </a:r>
            <a:r>
              <a:rPr lang="en-US" sz="900" dirty="0" err="1">
                <a:solidFill>
                  <a:srgbClr val="1E293B"/>
                </a:solidFill>
              </a:rPr>
              <a:t>liệu</a:t>
            </a:r>
            <a:r>
              <a:rPr lang="en-US" sz="900" dirty="0">
                <a:solidFill>
                  <a:srgbClr val="1E293B"/>
                </a:solidFill>
              </a:rPr>
              <a:t> test (</a:t>
            </a:r>
            <a:r>
              <a:rPr lang="en-US" sz="900" dirty="0" err="1">
                <a:solidFill>
                  <a:srgbClr val="1E293B"/>
                </a:solidFill>
              </a:rPr>
              <a:t>tài</a:t>
            </a:r>
            <a:r>
              <a:rPr lang="en-US" sz="900" dirty="0">
                <a:solidFill>
                  <a:srgbClr val="1E293B"/>
                </a:solidFill>
              </a:rPr>
              <a:t> </a:t>
            </a:r>
            <a:r>
              <a:rPr lang="en-US" sz="900" dirty="0" err="1">
                <a:solidFill>
                  <a:srgbClr val="1E293B"/>
                </a:solidFill>
              </a:rPr>
              <a:t>khoản</a:t>
            </a:r>
            <a:r>
              <a:rPr lang="en-US" sz="900" dirty="0">
                <a:solidFill>
                  <a:srgbClr val="1E293B"/>
                </a:solidFill>
              </a:rPr>
              <a:t>, </a:t>
            </a:r>
            <a:r>
              <a:rPr lang="en-US" sz="900" dirty="0" err="1">
                <a:solidFill>
                  <a:srgbClr val="1E293B"/>
                </a:solidFill>
              </a:rPr>
              <a:t>từ</a:t>
            </a:r>
            <a:r>
              <a:rPr lang="en-US" sz="900" dirty="0">
                <a:solidFill>
                  <a:srgbClr val="1E293B"/>
                </a:solidFill>
              </a:rPr>
              <a:t> </a:t>
            </a:r>
            <a:r>
              <a:rPr lang="en-US" sz="900" dirty="0" err="1">
                <a:solidFill>
                  <a:srgbClr val="1E293B"/>
                </a:solidFill>
              </a:rPr>
              <a:t>khóa</a:t>
            </a:r>
            <a:r>
              <a:rPr lang="en-US" sz="900" dirty="0">
                <a:solidFill>
                  <a:srgbClr val="1E293B"/>
                </a:solidFill>
              </a:rPr>
              <a:t>) </a:t>
            </a:r>
            <a:r>
              <a:rPr lang="en-US" sz="900" dirty="0" err="1">
                <a:solidFill>
                  <a:srgbClr val="1E293B"/>
                </a:solidFill>
              </a:rPr>
              <a:t>đã</a:t>
            </a:r>
            <a:r>
              <a:rPr lang="en-US" sz="900" dirty="0">
                <a:solidFill>
                  <a:srgbClr val="1E293B"/>
                </a:solidFill>
              </a:rPr>
              <a:t> </a:t>
            </a:r>
            <a:r>
              <a:rPr lang="en-US" sz="900" dirty="0" err="1">
                <a:solidFill>
                  <a:srgbClr val="1E293B"/>
                </a:solidFill>
              </a:rPr>
              <a:t>chuẩn</a:t>
            </a:r>
            <a:r>
              <a:rPr lang="en-US" sz="900" dirty="0">
                <a:solidFill>
                  <a:srgbClr val="1E293B"/>
                </a:solidFill>
              </a:rPr>
              <a:t> </a:t>
            </a:r>
            <a:r>
              <a:rPr lang="en-US" sz="900" dirty="0" err="1">
                <a:solidFill>
                  <a:srgbClr val="1E293B"/>
                </a:solidFill>
              </a:rPr>
              <a:t>bị</a:t>
            </a:r>
            <a:r>
              <a:rPr lang="en-US" sz="900" dirty="0">
                <a:solidFill>
                  <a:srgbClr val="1E293B"/>
                </a:solidFill>
              </a:rPr>
              <a:t> </a:t>
            </a:r>
            <a:r>
              <a:rPr lang="en-US" sz="900" dirty="0" err="1">
                <a:solidFill>
                  <a:srgbClr val="1E293B"/>
                </a:solidFill>
              </a:rPr>
              <a:t>sẵn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1298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</a:rPr>
              <a:t>TIÊU CHÍ KẾT THÚC (EXIT)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63440" y="1627632"/>
            <a:ext cx="4114800" cy="29260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1673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56048" y="1627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100% Test case đã được thực thi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975104"/>
            <a:ext cx="411480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020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56048" y="19751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Không còn lỗi Critical hoặc Major chưa fix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322576"/>
            <a:ext cx="4114800" cy="29260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2368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56048" y="2322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Pass rate ≥ 80% toàn bộ test suite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670048"/>
            <a:ext cx="411480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2715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56048" y="2670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Tất cả bug đã được ghi nhận đầy đủ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017520"/>
            <a:ext cx="4114800" cy="29260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81728" y="3063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56048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Báo cáo kết quả đã được phê duyệt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74320" y="3223261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</a:rPr>
              <a:t>RỦI RO &amp; BIỆN PHÁP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74320" y="3525013"/>
            <a:ext cx="859536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3525013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Rủi ro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017520" y="352501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Khả năng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4114800" y="3525013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Tác động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5303520" y="3525013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Biện pháp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6" name="Shape 54"/>
          <p:cNvSpPr/>
          <p:nvPr/>
        </p:nvSpPr>
        <p:spPr>
          <a:xfrm>
            <a:off x="274320" y="3845053"/>
            <a:ext cx="859536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3845053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Website thay đổi giữa kỳ test</a:t>
            </a:r>
          </a:p>
        </p:txBody>
      </p:sp>
      <p:sp>
        <p:nvSpPr>
          <p:cNvPr id="58" name="Text 56"/>
          <p:cNvSpPr/>
          <p:nvPr/>
        </p:nvSpPr>
        <p:spPr>
          <a:xfrm>
            <a:off x="3054096" y="3845053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/>
              <a:t>Thấp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151376" y="3845053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/>
              <a:t>Cao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340096" y="3845053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Ghi chú version, chụp ảnh trước &amp; sau</a:t>
            </a:r>
          </a:p>
        </p:txBody>
      </p:sp>
      <p:sp>
        <p:nvSpPr>
          <p:cNvPr id="61" name="Shape 59"/>
          <p:cNvSpPr/>
          <p:nvPr/>
        </p:nvSpPr>
        <p:spPr>
          <a:xfrm>
            <a:off x="274320" y="4137661"/>
            <a:ext cx="859536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" y="4137661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Thiết bị iOS không sẵn sàng</a:t>
            </a:r>
          </a:p>
        </p:txBody>
      </p:sp>
      <p:sp>
        <p:nvSpPr>
          <p:cNvPr id="63" name="Text 61"/>
          <p:cNvSpPr/>
          <p:nvPr/>
        </p:nvSpPr>
        <p:spPr>
          <a:xfrm>
            <a:off x="3054096" y="4137661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/>
              <a:t>Trung bình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51376" y="4137661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/>
              <a:t>Cao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340096" y="4137661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Dùng Chrome DevTools làm backup</a:t>
            </a:r>
          </a:p>
        </p:txBody>
      </p:sp>
      <p:sp>
        <p:nvSpPr>
          <p:cNvPr id="66" name="Shape 64"/>
          <p:cNvSpPr/>
          <p:nvPr/>
        </p:nvSpPr>
        <p:spPr>
          <a:xfrm>
            <a:off x="274320" y="4430269"/>
            <a:ext cx="859536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048" y="4430269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Chậm tiến độ do bug nhiều</a:t>
            </a:r>
          </a:p>
        </p:txBody>
      </p:sp>
      <p:sp>
        <p:nvSpPr>
          <p:cNvPr id="68" name="Text 66"/>
          <p:cNvSpPr/>
          <p:nvPr/>
        </p:nvSpPr>
        <p:spPr>
          <a:xfrm>
            <a:off x="3054096" y="4430269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/>
              <a:t>Trung bình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151376" y="4430269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/>
              <a:t>Trung bình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340096" y="4430269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Tăng buổi test, ưu tiên Critical first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2316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– THIẾT KẾ TC: EQUIVALENCE PARTITIONING (EP)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987552"/>
            <a:ext cx="3443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4.1 BLACK-BOX – EQUIVALENCE PARTITIONING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075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Phân chia miền đầu vào thành các lớp tương đương – mỗi lớp chỉ cần 1 giá trị đại diện để kiểm tra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85953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1627632"/>
            <a:ext cx="265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9224" y="1627632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Trường kiểm tra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47672" y="1627632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Lớp HỢP LỆ (EP+)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47872" y="1627632"/>
            <a:ext cx="768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Giá trị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16552" y="162763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Lớp KHÔNG HỢP LỆ (EP–)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91072" y="1627632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Giá trị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616952" y="1627632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TC 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984248"/>
            <a:ext cx="859536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 dirty="0"/>
          </a:p>
        </p:txBody>
      </p:sp>
      <p:sp>
        <p:nvSpPr>
          <p:cNvPr id="18" name="Text 16"/>
          <p:cNvSpPr/>
          <p:nvPr/>
        </p:nvSpPr>
        <p:spPr>
          <a:xfrm>
            <a:off x="301752" y="1984248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1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1984248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Viewport rộng (px)</a:t>
            </a:r>
          </a:p>
        </p:txBody>
      </p:sp>
      <p:sp>
        <p:nvSpPr>
          <p:cNvPr id="20" name="Text 18"/>
          <p:cNvSpPr/>
          <p:nvPr/>
        </p:nvSpPr>
        <p:spPr>
          <a:xfrm>
            <a:off x="1947672" y="198424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Mobile: 375-430px</a:t>
            </a:r>
          </a:p>
        </p:txBody>
      </p:sp>
      <p:sp>
        <p:nvSpPr>
          <p:cNvPr id="21" name="Text 19"/>
          <p:cNvSpPr/>
          <p:nvPr/>
        </p:nvSpPr>
        <p:spPr>
          <a:xfrm>
            <a:off x="3547872" y="198424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390px</a:t>
            </a:r>
          </a:p>
        </p:txBody>
      </p:sp>
      <p:sp>
        <p:nvSpPr>
          <p:cNvPr id="22" name="Text 20"/>
          <p:cNvSpPr/>
          <p:nvPr/>
        </p:nvSpPr>
        <p:spPr>
          <a:xfrm>
            <a:off x="4416552" y="198424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Dưới 320px (quá nhỏ)</a:t>
            </a:r>
          </a:p>
        </p:txBody>
      </p:sp>
      <p:sp>
        <p:nvSpPr>
          <p:cNvPr id="23" name="Text 21"/>
          <p:cNvSpPr/>
          <p:nvPr/>
        </p:nvSpPr>
        <p:spPr>
          <a:xfrm>
            <a:off x="6291072" y="198424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280px</a:t>
            </a:r>
          </a:p>
        </p:txBody>
      </p:sp>
      <p:sp>
        <p:nvSpPr>
          <p:cNvPr id="24" name="Text 22"/>
          <p:cNvSpPr/>
          <p:nvPr/>
        </p:nvSpPr>
        <p:spPr>
          <a:xfrm>
            <a:off x="7616952" y="1984248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TC_EP_001</a:t>
            </a:r>
          </a:p>
        </p:txBody>
      </p:sp>
      <p:sp>
        <p:nvSpPr>
          <p:cNvPr id="25" name="Shape 23"/>
          <p:cNvSpPr/>
          <p:nvPr/>
        </p:nvSpPr>
        <p:spPr>
          <a:xfrm>
            <a:off x="274320" y="2322576"/>
            <a:ext cx="8595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2322576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2</a:t>
            </a:r>
          </a:p>
        </p:txBody>
      </p:sp>
      <p:sp>
        <p:nvSpPr>
          <p:cNvPr id="27" name="Text 25"/>
          <p:cNvSpPr/>
          <p:nvPr/>
        </p:nvSpPr>
        <p:spPr>
          <a:xfrm>
            <a:off x="649224" y="2322576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Viewport rộng (px)</a:t>
            </a:r>
          </a:p>
        </p:txBody>
      </p:sp>
      <p:sp>
        <p:nvSpPr>
          <p:cNvPr id="28" name="Text 26"/>
          <p:cNvSpPr/>
          <p:nvPr/>
        </p:nvSpPr>
        <p:spPr>
          <a:xfrm>
            <a:off x="1947672" y="232257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Tablet: 768-1024px</a:t>
            </a:r>
          </a:p>
        </p:txBody>
      </p:sp>
      <p:sp>
        <p:nvSpPr>
          <p:cNvPr id="29" name="Text 27"/>
          <p:cNvSpPr/>
          <p:nvPr/>
        </p:nvSpPr>
        <p:spPr>
          <a:xfrm>
            <a:off x="3547872" y="2322576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768px</a:t>
            </a:r>
          </a:p>
        </p:txBody>
      </p:sp>
      <p:sp>
        <p:nvSpPr>
          <p:cNvPr id="30" name="Text 28"/>
          <p:cNvSpPr/>
          <p:nvPr/>
        </p:nvSpPr>
        <p:spPr>
          <a:xfrm>
            <a:off x="4416552" y="232257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Trên 1440px (ngoài range)</a:t>
            </a:r>
          </a:p>
        </p:txBody>
      </p:sp>
      <p:sp>
        <p:nvSpPr>
          <p:cNvPr id="31" name="Text 29"/>
          <p:cNvSpPr/>
          <p:nvPr/>
        </p:nvSpPr>
        <p:spPr>
          <a:xfrm>
            <a:off x="6291072" y="232257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1920px</a:t>
            </a:r>
          </a:p>
        </p:txBody>
      </p:sp>
      <p:sp>
        <p:nvSpPr>
          <p:cNvPr id="32" name="Text 30"/>
          <p:cNvSpPr/>
          <p:nvPr/>
        </p:nvSpPr>
        <p:spPr>
          <a:xfrm>
            <a:off x="7616952" y="2322576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TC_EP_002</a:t>
            </a:r>
          </a:p>
        </p:txBody>
      </p:sp>
      <p:sp>
        <p:nvSpPr>
          <p:cNvPr id="33" name="Shape 31"/>
          <p:cNvSpPr/>
          <p:nvPr/>
        </p:nvSpPr>
        <p:spPr>
          <a:xfrm>
            <a:off x="274320" y="2660904"/>
            <a:ext cx="859536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2660904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3</a:t>
            </a:r>
          </a:p>
        </p:txBody>
      </p:sp>
      <p:sp>
        <p:nvSpPr>
          <p:cNvPr id="35" name="Text 33"/>
          <p:cNvSpPr/>
          <p:nvPr/>
        </p:nvSpPr>
        <p:spPr>
          <a:xfrm>
            <a:off x="649224" y="266090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Hướng màn hình</a:t>
            </a:r>
          </a:p>
        </p:txBody>
      </p:sp>
      <p:sp>
        <p:nvSpPr>
          <p:cNvPr id="36" name="Text 34"/>
          <p:cNvSpPr/>
          <p:nvPr/>
        </p:nvSpPr>
        <p:spPr>
          <a:xfrm>
            <a:off x="1947672" y="2660904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Portrait (dọc)</a:t>
            </a:r>
          </a:p>
        </p:txBody>
      </p:sp>
      <p:sp>
        <p:nvSpPr>
          <p:cNvPr id="37" name="Text 35"/>
          <p:cNvSpPr/>
          <p:nvPr/>
        </p:nvSpPr>
        <p:spPr>
          <a:xfrm>
            <a:off x="3547872" y="2660904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390×844</a:t>
            </a:r>
          </a:p>
        </p:txBody>
      </p:sp>
      <p:sp>
        <p:nvSpPr>
          <p:cNvPr id="38" name="Text 36"/>
          <p:cNvSpPr/>
          <p:nvPr/>
        </p:nvSpPr>
        <p:spPr>
          <a:xfrm>
            <a:off x="4416552" y="266090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Xoay lệch/không hợp lệ</a:t>
            </a:r>
          </a:p>
        </p:txBody>
      </p:sp>
      <p:sp>
        <p:nvSpPr>
          <p:cNvPr id="39" name="Text 37"/>
          <p:cNvSpPr/>
          <p:nvPr/>
        </p:nvSpPr>
        <p:spPr>
          <a:xfrm>
            <a:off x="6291072" y="266090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50×300</a:t>
            </a:r>
          </a:p>
        </p:txBody>
      </p:sp>
      <p:sp>
        <p:nvSpPr>
          <p:cNvPr id="40" name="Text 38"/>
          <p:cNvSpPr/>
          <p:nvPr/>
        </p:nvSpPr>
        <p:spPr>
          <a:xfrm>
            <a:off x="7616952" y="266090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TC_EP_003</a:t>
            </a:r>
          </a:p>
        </p:txBody>
      </p:sp>
      <p:sp>
        <p:nvSpPr>
          <p:cNvPr id="41" name="Shape 39"/>
          <p:cNvSpPr/>
          <p:nvPr/>
        </p:nvSpPr>
        <p:spPr>
          <a:xfrm>
            <a:off x="274320" y="2999232"/>
            <a:ext cx="8595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" y="2999232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4</a:t>
            </a:r>
          </a:p>
        </p:txBody>
      </p:sp>
      <p:sp>
        <p:nvSpPr>
          <p:cNvPr id="43" name="Text 41"/>
          <p:cNvSpPr/>
          <p:nvPr/>
        </p:nvSpPr>
        <p:spPr>
          <a:xfrm>
            <a:off x="649224" y="299923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Hướng màn hình</a:t>
            </a:r>
          </a:p>
        </p:txBody>
      </p:sp>
      <p:sp>
        <p:nvSpPr>
          <p:cNvPr id="44" name="Text 42"/>
          <p:cNvSpPr/>
          <p:nvPr/>
        </p:nvSpPr>
        <p:spPr>
          <a:xfrm>
            <a:off x="1947672" y="299923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Landscape (ngang)</a:t>
            </a:r>
          </a:p>
        </p:txBody>
      </p:sp>
      <p:sp>
        <p:nvSpPr>
          <p:cNvPr id="45" name="Text 43"/>
          <p:cNvSpPr/>
          <p:nvPr/>
        </p:nvSpPr>
        <p:spPr>
          <a:xfrm>
            <a:off x="3547872" y="2999232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844×390</a:t>
            </a:r>
          </a:p>
        </p:txBody>
      </p:sp>
      <p:sp>
        <p:nvSpPr>
          <p:cNvPr id="46" name="Text 44"/>
          <p:cNvSpPr/>
          <p:nvPr/>
        </p:nvSpPr>
        <p:spPr>
          <a:xfrm>
            <a:off x="4416552" y="299923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—</a:t>
            </a:r>
          </a:p>
        </p:txBody>
      </p:sp>
      <p:sp>
        <p:nvSpPr>
          <p:cNvPr id="47" name="Text 45"/>
          <p:cNvSpPr/>
          <p:nvPr/>
        </p:nvSpPr>
        <p:spPr>
          <a:xfrm>
            <a:off x="6291072" y="2999232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—</a:t>
            </a:r>
          </a:p>
        </p:txBody>
      </p:sp>
      <p:sp>
        <p:nvSpPr>
          <p:cNvPr id="48" name="Text 46"/>
          <p:cNvSpPr/>
          <p:nvPr/>
        </p:nvSpPr>
        <p:spPr>
          <a:xfrm>
            <a:off x="7616952" y="2999232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TC_EP_004</a:t>
            </a:r>
          </a:p>
        </p:txBody>
      </p:sp>
      <p:sp>
        <p:nvSpPr>
          <p:cNvPr id="49" name="Shape 47"/>
          <p:cNvSpPr/>
          <p:nvPr/>
        </p:nvSpPr>
        <p:spPr>
          <a:xfrm>
            <a:off x="274320" y="3337560"/>
            <a:ext cx="859536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1752" y="3337560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5</a:t>
            </a:r>
          </a:p>
        </p:txBody>
      </p:sp>
      <p:sp>
        <p:nvSpPr>
          <p:cNvPr id="51" name="Text 49"/>
          <p:cNvSpPr/>
          <p:nvPr/>
        </p:nvSpPr>
        <p:spPr>
          <a:xfrm>
            <a:off x="649224" y="3337560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Từ khóa tìm kiếm</a:t>
            </a:r>
          </a:p>
        </p:txBody>
      </p:sp>
      <p:sp>
        <p:nvSpPr>
          <p:cNvPr id="52" name="Text 50"/>
          <p:cNvSpPr/>
          <p:nvPr/>
        </p:nvSpPr>
        <p:spPr>
          <a:xfrm>
            <a:off x="1947672" y="333756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2-50 ký tự</a:t>
            </a:r>
          </a:p>
        </p:txBody>
      </p:sp>
      <p:sp>
        <p:nvSpPr>
          <p:cNvPr id="53" name="Text 51"/>
          <p:cNvSpPr/>
          <p:nvPr/>
        </p:nvSpPr>
        <p:spPr>
          <a:xfrm>
            <a:off x="3547872" y="333756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30 chars</a:t>
            </a:r>
          </a:p>
        </p:txBody>
      </p:sp>
      <p:sp>
        <p:nvSpPr>
          <p:cNvPr id="54" name="Text 52"/>
          <p:cNvSpPr/>
          <p:nvPr/>
        </p:nvSpPr>
        <p:spPr>
          <a:xfrm>
            <a:off x="4416552" y="333756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Quá ngắn: 1 ký tự</a:t>
            </a:r>
          </a:p>
        </p:txBody>
      </p:sp>
      <p:sp>
        <p:nvSpPr>
          <p:cNvPr id="55" name="Text 53"/>
          <p:cNvSpPr/>
          <p:nvPr/>
        </p:nvSpPr>
        <p:spPr>
          <a:xfrm>
            <a:off x="6291072" y="333756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'a'</a:t>
            </a:r>
          </a:p>
        </p:txBody>
      </p:sp>
      <p:sp>
        <p:nvSpPr>
          <p:cNvPr id="56" name="Text 54"/>
          <p:cNvSpPr/>
          <p:nvPr/>
        </p:nvSpPr>
        <p:spPr>
          <a:xfrm>
            <a:off x="7616952" y="3337560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TC_EP_005</a:t>
            </a:r>
          </a:p>
        </p:txBody>
      </p:sp>
      <p:sp>
        <p:nvSpPr>
          <p:cNvPr id="57" name="Shape 55"/>
          <p:cNvSpPr/>
          <p:nvPr/>
        </p:nvSpPr>
        <p:spPr>
          <a:xfrm>
            <a:off x="274320" y="3675888"/>
            <a:ext cx="8595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" y="3675888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6</a:t>
            </a:r>
          </a:p>
        </p:txBody>
      </p:sp>
      <p:sp>
        <p:nvSpPr>
          <p:cNvPr id="59" name="Text 57"/>
          <p:cNvSpPr/>
          <p:nvPr/>
        </p:nvSpPr>
        <p:spPr>
          <a:xfrm>
            <a:off x="649224" y="3675888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Tiêu đề bài viết</a:t>
            </a:r>
          </a:p>
        </p:txBody>
      </p:sp>
      <p:sp>
        <p:nvSpPr>
          <p:cNvPr id="60" name="Text 58"/>
          <p:cNvSpPr/>
          <p:nvPr/>
        </p:nvSpPr>
        <p:spPr>
          <a:xfrm>
            <a:off x="1947672" y="367588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1-100 ký tự</a:t>
            </a:r>
          </a:p>
        </p:txBody>
      </p:sp>
      <p:sp>
        <p:nvSpPr>
          <p:cNvPr id="61" name="Text 59"/>
          <p:cNvSpPr/>
          <p:nvPr/>
        </p:nvSpPr>
        <p:spPr>
          <a:xfrm>
            <a:off x="3547872" y="3675888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65 chars</a:t>
            </a:r>
          </a:p>
        </p:txBody>
      </p:sp>
      <p:sp>
        <p:nvSpPr>
          <p:cNvPr id="62" name="Text 60"/>
          <p:cNvSpPr/>
          <p:nvPr/>
        </p:nvSpPr>
        <p:spPr>
          <a:xfrm>
            <a:off x="4416552" y="367588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Quá dài: &gt;100 ký tự</a:t>
            </a:r>
          </a:p>
        </p:txBody>
      </p:sp>
      <p:sp>
        <p:nvSpPr>
          <p:cNvPr id="63" name="Text 61"/>
          <p:cNvSpPr/>
          <p:nvPr/>
        </p:nvSpPr>
        <p:spPr>
          <a:xfrm>
            <a:off x="6291072" y="367588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120 chars</a:t>
            </a:r>
          </a:p>
        </p:txBody>
      </p:sp>
      <p:sp>
        <p:nvSpPr>
          <p:cNvPr id="64" name="Text 62"/>
          <p:cNvSpPr/>
          <p:nvPr/>
        </p:nvSpPr>
        <p:spPr>
          <a:xfrm>
            <a:off x="7616952" y="3675888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TC_EP_006</a:t>
            </a:r>
          </a:p>
        </p:txBody>
      </p:sp>
      <p:sp>
        <p:nvSpPr>
          <p:cNvPr id="65" name="Shape 63"/>
          <p:cNvSpPr/>
          <p:nvPr/>
        </p:nvSpPr>
        <p:spPr>
          <a:xfrm>
            <a:off x="274320" y="4014216"/>
            <a:ext cx="859536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1752" y="4014216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7</a:t>
            </a:r>
          </a:p>
        </p:txBody>
      </p:sp>
      <p:sp>
        <p:nvSpPr>
          <p:cNvPr id="67" name="Text 65"/>
          <p:cNvSpPr/>
          <p:nvPr/>
        </p:nvSpPr>
        <p:spPr>
          <a:xfrm>
            <a:off x="649224" y="4014216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Số mục menu</a:t>
            </a:r>
          </a:p>
        </p:txBody>
      </p:sp>
      <p:sp>
        <p:nvSpPr>
          <p:cNvPr id="68" name="Text 66"/>
          <p:cNvSpPr/>
          <p:nvPr/>
        </p:nvSpPr>
        <p:spPr>
          <a:xfrm>
            <a:off x="1947672" y="401421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1-10 mục</a:t>
            </a:r>
          </a:p>
        </p:txBody>
      </p:sp>
      <p:sp>
        <p:nvSpPr>
          <p:cNvPr id="69" name="Text 67"/>
          <p:cNvSpPr/>
          <p:nvPr/>
        </p:nvSpPr>
        <p:spPr>
          <a:xfrm>
            <a:off x="3547872" y="4014216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5 mục</a:t>
            </a:r>
          </a:p>
        </p:txBody>
      </p:sp>
      <p:sp>
        <p:nvSpPr>
          <p:cNvPr id="70" name="Text 68"/>
          <p:cNvSpPr/>
          <p:nvPr/>
        </p:nvSpPr>
        <p:spPr>
          <a:xfrm>
            <a:off x="4416552" y="401421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Quá nhiều: &gt;20 mục</a:t>
            </a:r>
          </a:p>
        </p:txBody>
      </p:sp>
      <p:sp>
        <p:nvSpPr>
          <p:cNvPr id="71" name="Text 69"/>
          <p:cNvSpPr/>
          <p:nvPr/>
        </p:nvSpPr>
        <p:spPr>
          <a:xfrm>
            <a:off x="6291072" y="401421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25 mục</a:t>
            </a:r>
          </a:p>
        </p:txBody>
      </p:sp>
      <p:sp>
        <p:nvSpPr>
          <p:cNvPr id="72" name="Text 70"/>
          <p:cNvSpPr/>
          <p:nvPr/>
        </p:nvSpPr>
        <p:spPr>
          <a:xfrm>
            <a:off x="7616952" y="4014216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TC_EP_007</a:t>
            </a:r>
          </a:p>
        </p:txBody>
      </p:sp>
      <p:sp>
        <p:nvSpPr>
          <p:cNvPr id="73" name="Shape 71"/>
          <p:cNvSpPr/>
          <p:nvPr/>
        </p:nvSpPr>
        <p:spPr>
          <a:xfrm>
            <a:off x="274320" y="4352544"/>
            <a:ext cx="8595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01752" y="4352544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8</a:t>
            </a:r>
          </a:p>
        </p:txBody>
      </p:sp>
      <p:sp>
        <p:nvSpPr>
          <p:cNvPr id="75" name="Text 73"/>
          <p:cNvSpPr/>
          <p:nvPr/>
        </p:nvSpPr>
        <p:spPr>
          <a:xfrm>
            <a:off x="649224" y="435254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Tỷ lệ ảnh banner</a:t>
            </a:r>
          </a:p>
        </p:txBody>
      </p:sp>
      <p:sp>
        <p:nvSpPr>
          <p:cNvPr id="76" name="Text 74"/>
          <p:cNvSpPr/>
          <p:nvPr/>
        </p:nvSpPr>
        <p:spPr>
          <a:xfrm>
            <a:off x="1947672" y="4352544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16:9 hoặc 4:3</a:t>
            </a:r>
          </a:p>
        </p:txBody>
      </p:sp>
      <p:sp>
        <p:nvSpPr>
          <p:cNvPr id="77" name="Text 75"/>
          <p:cNvSpPr/>
          <p:nvPr/>
        </p:nvSpPr>
        <p:spPr>
          <a:xfrm>
            <a:off x="3547872" y="4352544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1280×720</a:t>
            </a:r>
          </a:p>
        </p:txBody>
      </p:sp>
      <p:sp>
        <p:nvSpPr>
          <p:cNvPr id="78" name="Text 76"/>
          <p:cNvSpPr/>
          <p:nvPr/>
        </p:nvSpPr>
        <p:spPr>
          <a:xfrm>
            <a:off x="4416552" y="435254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Tỷ lệ sai (bị méo)</a:t>
            </a:r>
          </a:p>
        </p:txBody>
      </p:sp>
      <p:sp>
        <p:nvSpPr>
          <p:cNvPr id="79" name="Text 77"/>
          <p:cNvSpPr/>
          <p:nvPr/>
        </p:nvSpPr>
        <p:spPr>
          <a:xfrm>
            <a:off x="6291072" y="435254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300×100px</a:t>
            </a:r>
          </a:p>
        </p:txBody>
      </p:sp>
      <p:sp>
        <p:nvSpPr>
          <p:cNvPr id="80" name="Text 78"/>
          <p:cNvSpPr/>
          <p:nvPr/>
        </p:nvSpPr>
        <p:spPr>
          <a:xfrm>
            <a:off x="7616952" y="435254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TC_EP_008</a:t>
            </a:r>
          </a:p>
        </p:txBody>
      </p:sp>
      <p:sp>
        <p:nvSpPr>
          <p:cNvPr id="82" name="Text 8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– THIẾT KẾ TC: BOUNDARY VALUE ANALYSIS (BVA)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6095" y="809244"/>
            <a:ext cx="4313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4.1 BLACK-BOX – BOUNDARY VALUE ANALYSIS  +  DECISION TABLE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07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</a:rPr>
              <a:t>PHÂN TÍCH GIÁ TRỊ BIÊN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92608" y="162763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Biến kiểm tra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09928" y="16276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Min-1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41448" y="16276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Min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45536" y="162763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Min+1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0" y="162763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Max-1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44568" y="162763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Max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48656" y="1627632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Max+1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80176" y="162763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Ghi chú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956816"/>
            <a:ext cx="8595360" cy="32004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1956816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Viewport Width</a:t>
            </a:r>
          </a:p>
        </p:txBody>
      </p:sp>
      <p:sp>
        <p:nvSpPr>
          <p:cNvPr id="20" name="Text 18"/>
          <p:cNvSpPr/>
          <p:nvPr/>
        </p:nvSpPr>
        <p:spPr>
          <a:xfrm>
            <a:off x="1709928" y="1956816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319</a:t>
            </a:r>
          </a:p>
        </p:txBody>
      </p:sp>
      <p:sp>
        <p:nvSpPr>
          <p:cNvPr id="21" name="Text 19"/>
          <p:cNvSpPr/>
          <p:nvPr/>
        </p:nvSpPr>
        <p:spPr>
          <a:xfrm>
            <a:off x="2441448" y="19568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320</a:t>
            </a:r>
          </a:p>
        </p:txBody>
      </p:sp>
      <p:sp>
        <p:nvSpPr>
          <p:cNvPr id="22" name="Text 20"/>
          <p:cNvSpPr/>
          <p:nvPr/>
        </p:nvSpPr>
        <p:spPr>
          <a:xfrm>
            <a:off x="3145536" y="1956816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321</a:t>
            </a:r>
          </a:p>
        </p:txBody>
      </p:sp>
      <p:sp>
        <p:nvSpPr>
          <p:cNvPr id="23" name="Text 21"/>
          <p:cNvSpPr/>
          <p:nvPr/>
        </p:nvSpPr>
        <p:spPr>
          <a:xfrm>
            <a:off x="3840480" y="1956816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766</a:t>
            </a:r>
          </a:p>
        </p:txBody>
      </p:sp>
      <p:sp>
        <p:nvSpPr>
          <p:cNvPr id="24" name="Text 22"/>
          <p:cNvSpPr/>
          <p:nvPr/>
        </p:nvSpPr>
        <p:spPr>
          <a:xfrm>
            <a:off x="4544568" y="1956816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767</a:t>
            </a:r>
          </a:p>
        </p:txBody>
      </p:sp>
      <p:sp>
        <p:nvSpPr>
          <p:cNvPr id="25" name="Text 23"/>
          <p:cNvSpPr/>
          <p:nvPr/>
        </p:nvSpPr>
        <p:spPr>
          <a:xfrm>
            <a:off x="5248656" y="1956816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768→Tab</a:t>
            </a:r>
          </a:p>
        </p:txBody>
      </p:sp>
      <p:sp>
        <p:nvSpPr>
          <p:cNvPr id="26" name="Text 24"/>
          <p:cNvSpPr/>
          <p:nvPr/>
        </p:nvSpPr>
        <p:spPr>
          <a:xfrm>
            <a:off x="5980176" y="1956816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319: layout vỡ; 768: kích hoạt tablet</a:t>
            </a:r>
          </a:p>
        </p:txBody>
      </p:sp>
      <p:sp>
        <p:nvSpPr>
          <p:cNvPr id="27" name="Shape 25"/>
          <p:cNvSpPr/>
          <p:nvPr/>
        </p:nvSpPr>
        <p:spPr>
          <a:xfrm>
            <a:off x="274320" y="2304288"/>
            <a:ext cx="859536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2304288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Từ khóa tìm kiếm</a:t>
            </a:r>
          </a:p>
        </p:txBody>
      </p:sp>
      <p:sp>
        <p:nvSpPr>
          <p:cNvPr id="29" name="Text 27"/>
          <p:cNvSpPr/>
          <p:nvPr/>
        </p:nvSpPr>
        <p:spPr>
          <a:xfrm>
            <a:off x="1709928" y="230428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1</a:t>
            </a:r>
          </a:p>
        </p:txBody>
      </p:sp>
      <p:sp>
        <p:nvSpPr>
          <p:cNvPr id="30" name="Text 28"/>
          <p:cNvSpPr/>
          <p:nvPr/>
        </p:nvSpPr>
        <p:spPr>
          <a:xfrm>
            <a:off x="2441448" y="23042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2</a:t>
            </a:r>
          </a:p>
        </p:txBody>
      </p:sp>
      <p:sp>
        <p:nvSpPr>
          <p:cNvPr id="31" name="Text 29"/>
          <p:cNvSpPr/>
          <p:nvPr/>
        </p:nvSpPr>
        <p:spPr>
          <a:xfrm>
            <a:off x="3145536" y="2304288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3</a:t>
            </a:r>
          </a:p>
        </p:txBody>
      </p:sp>
      <p:sp>
        <p:nvSpPr>
          <p:cNvPr id="32" name="Text 30"/>
          <p:cNvSpPr/>
          <p:nvPr/>
        </p:nvSpPr>
        <p:spPr>
          <a:xfrm>
            <a:off x="3840480" y="2304288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49</a:t>
            </a:r>
          </a:p>
        </p:txBody>
      </p:sp>
      <p:sp>
        <p:nvSpPr>
          <p:cNvPr id="33" name="Text 31"/>
          <p:cNvSpPr/>
          <p:nvPr/>
        </p:nvSpPr>
        <p:spPr>
          <a:xfrm>
            <a:off x="4544568" y="2304288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50</a:t>
            </a:r>
          </a:p>
        </p:txBody>
      </p:sp>
      <p:sp>
        <p:nvSpPr>
          <p:cNvPr id="34" name="Text 32"/>
          <p:cNvSpPr/>
          <p:nvPr/>
        </p:nvSpPr>
        <p:spPr>
          <a:xfrm>
            <a:off x="5248656" y="2304288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51</a:t>
            </a:r>
          </a:p>
        </p:txBody>
      </p:sp>
      <p:sp>
        <p:nvSpPr>
          <p:cNvPr id="35" name="Text 33"/>
          <p:cNvSpPr/>
          <p:nvPr/>
        </p:nvSpPr>
        <p:spPr>
          <a:xfrm>
            <a:off x="5980176" y="2304288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1: quá ngắn; 51: quá dài/bị cắt</a:t>
            </a:r>
          </a:p>
        </p:txBody>
      </p:sp>
      <p:sp>
        <p:nvSpPr>
          <p:cNvPr id="36" name="Shape 34"/>
          <p:cNvSpPr/>
          <p:nvPr/>
        </p:nvSpPr>
        <p:spPr>
          <a:xfrm>
            <a:off x="274320" y="2651760"/>
            <a:ext cx="8595360" cy="32004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265176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Số mục menu</a:t>
            </a:r>
          </a:p>
        </p:txBody>
      </p:sp>
      <p:sp>
        <p:nvSpPr>
          <p:cNvPr id="38" name="Text 36"/>
          <p:cNvSpPr/>
          <p:nvPr/>
        </p:nvSpPr>
        <p:spPr>
          <a:xfrm>
            <a:off x="1709928" y="265176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0</a:t>
            </a:r>
          </a:p>
        </p:txBody>
      </p:sp>
      <p:sp>
        <p:nvSpPr>
          <p:cNvPr id="39" name="Text 37"/>
          <p:cNvSpPr/>
          <p:nvPr/>
        </p:nvSpPr>
        <p:spPr>
          <a:xfrm>
            <a:off x="2441448" y="2651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1</a:t>
            </a:r>
          </a:p>
        </p:txBody>
      </p:sp>
      <p:sp>
        <p:nvSpPr>
          <p:cNvPr id="40" name="Text 38"/>
          <p:cNvSpPr/>
          <p:nvPr/>
        </p:nvSpPr>
        <p:spPr>
          <a:xfrm>
            <a:off x="3145536" y="2651760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2</a:t>
            </a:r>
          </a:p>
        </p:txBody>
      </p:sp>
      <p:sp>
        <p:nvSpPr>
          <p:cNvPr id="41" name="Text 39"/>
          <p:cNvSpPr/>
          <p:nvPr/>
        </p:nvSpPr>
        <p:spPr>
          <a:xfrm>
            <a:off x="3840480" y="2651760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14</a:t>
            </a:r>
          </a:p>
        </p:txBody>
      </p:sp>
      <p:sp>
        <p:nvSpPr>
          <p:cNvPr id="42" name="Text 40"/>
          <p:cNvSpPr/>
          <p:nvPr/>
        </p:nvSpPr>
        <p:spPr>
          <a:xfrm>
            <a:off x="4544568" y="2651760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15</a:t>
            </a:r>
          </a:p>
        </p:txBody>
      </p:sp>
      <p:sp>
        <p:nvSpPr>
          <p:cNvPr id="43" name="Text 41"/>
          <p:cNvSpPr/>
          <p:nvPr/>
        </p:nvSpPr>
        <p:spPr>
          <a:xfrm>
            <a:off x="5248656" y="2651760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16</a:t>
            </a:r>
          </a:p>
        </p:txBody>
      </p:sp>
      <p:sp>
        <p:nvSpPr>
          <p:cNvPr id="44" name="Text 42"/>
          <p:cNvSpPr/>
          <p:nvPr/>
        </p:nvSpPr>
        <p:spPr>
          <a:xfrm>
            <a:off x="5980176" y="2651760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/>
              <a:t>0: ẩn icon; 16: tràn khung</a:t>
            </a:r>
          </a:p>
        </p:txBody>
      </p:sp>
      <p:sp>
        <p:nvSpPr>
          <p:cNvPr id="45" name="Shape 43"/>
          <p:cNvSpPr/>
          <p:nvPr/>
        </p:nvSpPr>
        <p:spPr>
          <a:xfrm>
            <a:off x="274320" y="2999232"/>
            <a:ext cx="859536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" y="299923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/>
              <a:t>Font size (px)</a:t>
            </a:r>
          </a:p>
        </p:txBody>
      </p:sp>
      <p:sp>
        <p:nvSpPr>
          <p:cNvPr id="47" name="Text 45"/>
          <p:cNvSpPr/>
          <p:nvPr/>
        </p:nvSpPr>
        <p:spPr>
          <a:xfrm>
            <a:off x="1709928" y="299923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11</a:t>
            </a:r>
          </a:p>
        </p:txBody>
      </p:sp>
      <p:sp>
        <p:nvSpPr>
          <p:cNvPr id="48" name="Text 46"/>
          <p:cNvSpPr/>
          <p:nvPr/>
        </p:nvSpPr>
        <p:spPr>
          <a:xfrm>
            <a:off x="2441448" y="29992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12</a:t>
            </a:r>
          </a:p>
        </p:txBody>
      </p:sp>
      <p:sp>
        <p:nvSpPr>
          <p:cNvPr id="49" name="Text 47"/>
          <p:cNvSpPr/>
          <p:nvPr/>
        </p:nvSpPr>
        <p:spPr>
          <a:xfrm>
            <a:off x="3145536" y="2999232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13</a:t>
            </a:r>
          </a:p>
        </p:txBody>
      </p:sp>
      <p:sp>
        <p:nvSpPr>
          <p:cNvPr id="50" name="Text 48"/>
          <p:cNvSpPr/>
          <p:nvPr/>
        </p:nvSpPr>
        <p:spPr>
          <a:xfrm>
            <a:off x="3840480" y="2999232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23</a:t>
            </a:r>
          </a:p>
        </p:txBody>
      </p:sp>
      <p:sp>
        <p:nvSpPr>
          <p:cNvPr id="51" name="Text 49"/>
          <p:cNvSpPr/>
          <p:nvPr/>
        </p:nvSpPr>
        <p:spPr>
          <a:xfrm>
            <a:off x="4544568" y="2999232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24</a:t>
            </a:r>
          </a:p>
        </p:txBody>
      </p:sp>
      <p:sp>
        <p:nvSpPr>
          <p:cNvPr id="52" name="Text 50"/>
          <p:cNvSpPr/>
          <p:nvPr/>
        </p:nvSpPr>
        <p:spPr>
          <a:xfrm>
            <a:off x="5248656" y="2999232"/>
            <a:ext cx="630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/>
              <a:t>25</a:t>
            </a:r>
          </a:p>
        </p:txBody>
      </p:sp>
      <p:sp>
        <p:nvSpPr>
          <p:cNvPr id="53" name="Text 51"/>
          <p:cNvSpPr/>
          <p:nvPr/>
        </p:nvSpPr>
        <p:spPr>
          <a:xfrm>
            <a:off x="5980176" y="2999232"/>
            <a:ext cx="2825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11px: khó đọc; 25px: vỡ layout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46888" y="334670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– BẢNG TỔNG HỢP TEST CASE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4.3 TỔNG HỢP TEST CASE (73 TC)</a:t>
            </a:r>
            <a:endParaRPr lang="en-US" sz="900" dirty="0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6C3C01A0-57C4-5295-30AC-564FE3BBB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65779"/>
            <a:ext cx="8689088" cy="26007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– THỐNG KÊ KẾT QUẢ KIỂM THỬ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-453683" y="914400"/>
            <a:ext cx="357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5.7 THỐNG KÊ KẾT QUẢ TỔNG HỢP</a:t>
            </a:r>
            <a:endParaRPr lang="en-US" sz="900" dirty="0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00715FB2-FC69-6ED4-486A-8C0AD3CF4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1306286"/>
            <a:ext cx="8156093" cy="3418114"/>
          </a:xfrm>
          <a:prstGeom prst="rect">
            <a:avLst/>
          </a:prstGeom>
        </p:spPr>
      </p:pic>
      <p:sp>
        <p:nvSpPr>
          <p:cNvPr id="91" name="Text 6">
            <a:extLst>
              <a:ext uri="{FF2B5EF4-FFF2-40B4-BE49-F238E27FC236}">
                <a16:creationId xmlns:a16="http://schemas.microsoft.com/office/drawing/2014/main" id="{7A8C0177-9264-773A-8346-7753A03F5DFB}"/>
              </a:ext>
            </a:extLst>
          </p:cNvPr>
          <p:cNvSpPr/>
          <p:nvPr/>
        </p:nvSpPr>
        <p:spPr>
          <a:xfrm>
            <a:off x="2770632" y="1190715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92" name="Text 7">
            <a:extLst>
              <a:ext uri="{FF2B5EF4-FFF2-40B4-BE49-F238E27FC236}">
                <a16:creationId xmlns:a16="http://schemas.microsoft.com/office/drawing/2014/main" id="{E51D2991-E1EA-0F4A-EBF4-B368A47FF795}"/>
              </a:ext>
            </a:extLst>
          </p:cNvPr>
          <p:cNvSpPr/>
          <p:nvPr/>
        </p:nvSpPr>
        <p:spPr>
          <a:xfrm>
            <a:off x="905431" y="1457349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3" name="Text 9">
            <a:extLst>
              <a:ext uri="{FF2B5EF4-FFF2-40B4-BE49-F238E27FC236}">
                <a16:creationId xmlns:a16="http://schemas.microsoft.com/office/drawing/2014/main" id="{77CD6186-29E1-6071-9769-2AACB4071441}"/>
              </a:ext>
            </a:extLst>
          </p:cNvPr>
          <p:cNvSpPr/>
          <p:nvPr/>
        </p:nvSpPr>
        <p:spPr>
          <a:xfrm>
            <a:off x="4608576" y="1137309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94" name="Text 10">
            <a:extLst>
              <a:ext uri="{FF2B5EF4-FFF2-40B4-BE49-F238E27FC236}">
                <a16:creationId xmlns:a16="http://schemas.microsoft.com/office/drawing/2014/main" id="{F0B37009-08C8-5936-6667-63836349A798}"/>
              </a:ext>
            </a:extLst>
          </p:cNvPr>
          <p:cNvSpPr/>
          <p:nvPr/>
        </p:nvSpPr>
        <p:spPr>
          <a:xfrm>
            <a:off x="2743375" y="1009436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5" name="Text 12">
            <a:extLst>
              <a:ext uri="{FF2B5EF4-FFF2-40B4-BE49-F238E27FC236}">
                <a16:creationId xmlns:a16="http://schemas.microsoft.com/office/drawing/2014/main" id="{32BCCFEB-E32C-2DD1-6C96-CE9D94CCEDA7}"/>
              </a:ext>
            </a:extLst>
          </p:cNvPr>
          <p:cNvSpPr/>
          <p:nvPr/>
        </p:nvSpPr>
        <p:spPr>
          <a:xfrm>
            <a:off x="6022733" y="539352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96" name="Text 13">
            <a:extLst>
              <a:ext uri="{FF2B5EF4-FFF2-40B4-BE49-F238E27FC236}">
                <a16:creationId xmlns:a16="http://schemas.microsoft.com/office/drawing/2014/main" id="{52920465-4900-685A-375C-7CADA1A81D64}"/>
              </a:ext>
            </a:extLst>
          </p:cNvPr>
          <p:cNvSpPr/>
          <p:nvPr/>
        </p:nvSpPr>
        <p:spPr>
          <a:xfrm>
            <a:off x="4572000" y="96191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 – KIỂM THỬ TỰ ĐỘNG (AUTOMATION TESTING)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066192" y="713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SELENIUM</a:t>
            </a:r>
          </a:p>
        </p:txBody>
      </p:sp>
      <p:sp>
        <p:nvSpPr>
          <p:cNvPr id="8" name="Text 6"/>
          <p:cNvSpPr/>
          <p:nvPr/>
        </p:nvSpPr>
        <p:spPr>
          <a:xfrm>
            <a:off x="32004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</a:rPr>
              <a:t>CÔNG CỤ SỬ DỤNG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E41B5D22-1459-075B-F953-3472C32D4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359" y="1104666"/>
            <a:ext cx="5347281" cy="38507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65105-817A-A5D8-2507-7726026BC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5CB8A8-50CC-0570-2E56-C3C1E9985521}"/>
              </a:ext>
            </a:extLst>
          </p:cNvPr>
          <p:cNvSpPr/>
          <p:nvPr/>
        </p:nvSpPr>
        <p:spPr>
          <a:xfrm>
            <a:off x="-15826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0343E99-4B64-23E6-35A5-7E93735C6CDA}"/>
              </a:ext>
            </a:extLst>
          </p:cNvPr>
          <p:cNvSpPr/>
          <p:nvPr/>
        </p:nvSpPr>
        <p:spPr>
          <a:xfrm>
            <a:off x="3200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6 – KIỂM THỬ TỰ ĐỘNG (AUTOMATION TESTING)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8903B4-0E74-7E07-F65A-E3455C586BB7}"/>
              </a:ext>
            </a:extLst>
          </p:cNvPr>
          <p:cNvSpPr/>
          <p:nvPr/>
        </p:nvSpPr>
        <p:spPr>
          <a:xfrm>
            <a:off x="8046720" y="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6D033C9-D1D9-7F87-8B77-0F6674354AF7}"/>
              </a:ext>
            </a:extLst>
          </p:cNvPr>
          <p:cNvSpPr/>
          <p:nvPr/>
        </p:nvSpPr>
        <p:spPr>
          <a:xfrm>
            <a:off x="2066192" y="713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SELENIUM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BED40F8-030B-74F1-28E9-34B80359BDAC}"/>
              </a:ext>
            </a:extLst>
          </p:cNvPr>
          <p:cNvSpPr/>
          <p:nvPr/>
        </p:nvSpPr>
        <p:spPr>
          <a:xfrm>
            <a:off x="32004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</a:rPr>
              <a:t>CÔNG CỤ SỬ DỤNG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01EAC9-9D73-C5DE-93F1-EC0B66078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119" y="1107831"/>
            <a:ext cx="5627761" cy="390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087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137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KIẾN NGHỊ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13716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969264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bg1"/>
                </a:solidFill>
              </a:rPr>
              <a:t>73</a:t>
            </a:r>
            <a:endParaRPr lang="en-US" sz="38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59105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Test Cases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Tổng cộng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41448" y="969264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C55E"/>
                </a:solidFill>
              </a:rPr>
              <a:t>80.8%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441448" y="159105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Pass 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(73 TC thực thi)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08576" y="969264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</a:rPr>
              <a:t>18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08576" y="159105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Bugs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Tìm thấy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75704" y="969264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F4444"/>
                </a:solidFill>
              </a:rPr>
              <a:t>6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775704" y="159105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Critical/High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Cần fix ngay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148840"/>
            <a:ext cx="4160520" cy="2450592"/>
          </a:xfrm>
          <a:prstGeom prst="rect">
            <a:avLst/>
          </a:prstGeom>
          <a:solidFill>
            <a:srgbClr val="1B345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1488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PHÁT HIỆN CHÍNH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" y="25420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Form login SV bị vỡ layout hoàn toàn trên mobile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" y="291693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Bảng điểm tràn ngang – không dùng được trên iPhone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" y="329184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Chức năng in PDF bảng điểm bị lỗi hoàn toàn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" y="366674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Logo và ảnh bị méo/lệch trái trên iPhone 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07822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404164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Icon Gọi điện/Zalo chiếm quá nhiều diện tích màn hình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148840"/>
            <a:ext cx="4160520" cy="2450592"/>
          </a:xfrm>
          <a:prstGeom prst="rect">
            <a:avLst/>
          </a:prstGeom>
          <a:solidFill>
            <a:srgbClr val="1B345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1488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KIẾN NGHỊ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257860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25420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Fix 7 lỗi High (P1): viewport tràn, bảng điểm, form login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295351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7488" y="291693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Thêm validation search (2-50 ký tự) phía client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32841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329184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CSS overflow-x: auto cho bảng điểm + print CSS mobile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70332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7488" y="366674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Thêm fallback UI cho menu rỗng, min font-size: 12px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407822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47488" y="404164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Regression Testing sau mỗi sprint fix bug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782312"/>
            <a:ext cx="8595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Mobile Responsive Testing  |  hcmunre.edu.vn  |  Nguyễn Văn Toàn  –  ThS. Phạm Trọng Huynh  |  ĐH Tài Nguyên &amp; Môi Trường TP.HCM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1330</Words>
  <Application>Microsoft Macintosh PowerPoint</Application>
  <PresentationFormat>On-screen Show (16:9)</PresentationFormat>
  <Paragraphs>309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Responsive Testing – Báo cáo giữa kỳ</dc:title>
  <dc:subject>PptxGenJS Presentation</dc:subject>
  <dc:creator>PptxGenJS</dc:creator>
  <cp:lastModifiedBy>Nguyen Van Toan</cp:lastModifiedBy>
  <cp:revision>70</cp:revision>
  <dcterms:created xsi:type="dcterms:W3CDTF">2026-03-17T05:16:19Z</dcterms:created>
  <dcterms:modified xsi:type="dcterms:W3CDTF">2026-03-24T07:08:18Z</dcterms:modified>
</cp:coreProperties>
</file>